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61" r:id="rId2"/>
    <p:sldId id="266" r:id="rId3"/>
  </p:sldIdLst>
  <p:sldSz cx="7556500" cy="106934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rina SOARE" initials="CS" lastIdx="4" clrIdx="0">
    <p:extLst>
      <p:ext uri="{19B8F6BF-5375-455C-9EA6-DF929625EA0E}">
        <p15:presenceInfo xmlns:p15="http://schemas.microsoft.com/office/powerpoint/2012/main" userId="S::corina.soare@alten.com::7f89ad1e-01c4-4077-ac6f-7695299cfdb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7ECBEE"/>
    <a:srgbClr val="008BD2"/>
    <a:srgbClr val="FFDF2B"/>
    <a:srgbClr val="8C8C9A"/>
    <a:srgbClr val="0075B0"/>
    <a:srgbClr val="043962"/>
    <a:srgbClr val="EC7D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4622" autoAdjust="0"/>
  </p:normalViewPr>
  <p:slideViewPr>
    <p:cSldViewPr>
      <p:cViewPr varScale="1">
        <p:scale>
          <a:sx n="50" d="100"/>
          <a:sy n="50" d="100"/>
        </p:scale>
        <p:origin x="268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FLORENTINA ALUPEI" userId="62339890-8032-4f10-a872-ccc15bd0609b" providerId="ADAL" clId="{90F9B0F6-EE14-48B9-B26B-48FD6A5D5176}"/>
    <pc:docChg chg="mod modMainMaster">
      <pc:chgData name="DANIELA FLORENTINA ALUPEI" userId="62339890-8032-4f10-a872-ccc15bd0609b" providerId="ADAL" clId="{90F9B0F6-EE14-48B9-B26B-48FD6A5D5176}" dt="2026-05-28T12:10:09.969" v="1" actId="33475"/>
      <pc:docMkLst>
        <pc:docMk/>
      </pc:docMkLst>
      <pc:sldMasterChg chg="addSp mod">
        <pc:chgData name="DANIELA FLORENTINA ALUPEI" userId="62339890-8032-4f10-a872-ccc15bd0609b" providerId="ADAL" clId="{90F9B0F6-EE14-48B9-B26B-48FD6A5D5176}" dt="2026-05-28T12:10:09.967" v="0" actId="33475"/>
        <pc:sldMasterMkLst>
          <pc:docMk/>
          <pc:sldMasterMk cId="0" sldId="2147483648"/>
        </pc:sldMasterMkLst>
        <pc:spChg chg="add">
          <ac:chgData name="DANIELA FLORENTINA ALUPEI" userId="62339890-8032-4f10-a872-ccc15bd0609b" providerId="ADAL" clId="{90F9B0F6-EE14-48B9-B26B-48FD6A5D5176}" dt="2026-05-28T12:10:09.967" v="0" actId="33475"/>
          <ac:spMkLst>
            <pc:docMk/>
            <pc:sldMasterMk cId="0" sldId="2147483648"/>
            <ac:spMk id="8" creationId="{A2B2F7A9-5E66-142B-048A-0C503A070ED1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EA082984-EC35-437A-AD5F-F63A444618E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3625" y="1162050"/>
            <a:ext cx="221456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0AC0766D-F03E-49CD-9387-618361853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03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0766D-F03E-49CD-9387-6183618532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57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B2F7A9-5E66-142B-048A-0C503A070E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10477500"/>
            <a:ext cx="126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ro-RO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Sensitivity: C1-Internal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EBCCB59C-0AB8-42F1-AEFE-B0E6749E58B0}"/>
              </a:ext>
            </a:extLst>
          </p:cNvPr>
          <p:cNvSpPr/>
          <p:nvPr/>
        </p:nvSpPr>
        <p:spPr>
          <a:xfrm flipH="1" flipV="1">
            <a:off x="3256612" y="0"/>
            <a:ext cx="4299888" cy="10693400"/>
          </a:xfrm>
          <a:prstGeom prst="snip1Rect">
            <a:avLst>
              <a:gd name="adj" fmla="val 347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29399" y="927100"/>
            <a:ext cx="2668041" cy="8656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spc="194" dirty="0">
                <a:solidFill>
                  <a:schemeClr val="tx2"/>
                </a:solidFill>
              </a:rPr>
              <a:t>PRENUME NUME</a:t>
            </a:r>
          </a:p>
          <a:p>
            <a:pPr marL="0" marR="0" lvl="0" indent="0" algn="l" defTabSz="914400" rtl="0" eaLnBrk="1" fontAlgn="auto" latinLnBrk="0" hangingPunct="1">
              <a:lnSpc>
                <a:spcPts val="28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105" dirty="0">
                <a:solidFill>
                  <a:schemeClr val="tx2"/>
                </a:solidFill>
              </a:rPr>
              <a:t>Software Engineer</a:t>
            </a:r>
          </a:p>
          <a:p>
            <a:pPr marL="0" marR="0" lvl="0" indent="0" algn="l" defTabSz="914400" rtl="0" eaLnBrk="1" fontAlgn="auto" latinLnBrk="0" hangingPunct="1">
              <a:lnSpc>
                <a:spcPts val="28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194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+mn-cs"/>
            </a:endParaRPr>
          </a:p>
          <a:p>
            <a:r>
              <a:rPr lang="en-US" sz="1000" b="1" dirty="0">
                <a:solidFill>
                  <a:schemeClr val="tx2"/>
                </a:solidFill>
              </a:rPr>
              <a:t>PERSONAL PROFILE</a:t>
            </a:r>
          </a:p>
          <a:p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dirty="0">
                <a:solidFill>
                  <a:schemeClr val="tx2"/>
                </a:solidFill>
              </a:rPr>
              <a:t>I'm an intuitive, resourceful and passionate young engineer. I am constantly challenging myself to experiment and learn.</a:t>
            </a:r>
          </a:p>
          <a:p>
            <a:endParaRPr lang="en-US" sz="1000" dirty="0">
              <a:solidFill>
                <a:schemeClr val="tx2"/>
              </a:solidFill>
            </a:endParaRPr>
          </a:p>
          <a:p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b="1" dirty="0">
                <a:solidFill>
                  <a:schemeClr val="tx2"/>
                </a:solidFill>
              </a:rPr>
              <a:t>CORE SKILLS</a:t>
            </a:r>
          </a:p>
          <a:p>
            <a:endParaRPr lang="en-US" sz="1000" dirty="0">
              <a:solidFill>
                <a:schemeClr val="tx2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C++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C#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Low-level Programming (Assembler, 8086)</a:t>
            </a:r>
          </a:p>
          <a:p>
            <a:pPr lvl="1"/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b="1" dirty="0">
                <a:solidFill>
                  <a:schemeClr val="tx2"/>
                </a:solidFill>
              </a:rPr>
              <a:t>ADDITIONAL SKILLS</a:t>
            </a:r>
          </a:p>
          <a:p>
            <a:endParaRPr lang="en-US" sz="1000" b="1" dirty="0">
              <a:solidFill>
                <a:schemeClr val="tx2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Electronics Hardware Design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tx2"/>
                </a:solidFill>
              </a:rPr>
              <a:t>Matlab</a:t>
            </a:r>
            <a:endParaRPr lang="en-US" sz="1000" dirty="0">
              <a:solidFill>
                <a:schemeClr val="tx2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Linux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Vector CAN, </a:t>
            </a:r>
            <a:r>
              <a:rPr lang="en-US" sz="1000" dirty="0" err="1">
                <a:solidFill>
                  <a:schemeClr val="tx2"/>
                </a:solidFill>
              </a:rPr>
              <a:t>CaNoe</a:t>
            </a:r>
            <a:endParaRPr lang="en-US" sz="1000" dirty="0">
              <a:solidFill>
                <a:schemeClr val="tx2"/>
              </a:solidFill>
            </a:endParaRPr>
          </a:p>
          <a:p>
            <a:endParaRPr lang="en-US" sz="1000" dirty="0">
              <a:solidFill>
                <a:schemeClr val="tx2"/>
              </a:solidFill>
            </a:endParaRPr>
          </a:p>
          <a:p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b="1" dirty="0">
                <a:solidFill>
                  <a:schemeClr val="tx2"/>
                </a:solidFill>
              </a:rPr>
              <a:t>SOFT SKILLS</a:t>
            </a:r>
          </a:p>
          <a:p>
            <a:endParaRPr lang="en-US" sz="1000" b="1" dirty="0">
              <a:solidFill>
                <a:schemeClr val="tx2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Positive attitude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Communicative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Continuous learner</a:t>
            </a:r>
          </a:p>
          <a:p>
            <a:endParaRPr lang="en-US" sz="1000" dirty="0">
              <a:solidFill>
                <a:schemeClr val="tx2"/>
              </a:solidFill>
            </a:endParaRPr>
          </a:p>
          <a:p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b="1" dirty="0">
                <a:solidFill>
                  <a:schemeClr val="tx2"/>
                </a:solidFill>
              </a:rPr>
              <a:t>FOREIGN LANGUAGES</a:t>
            </a:r>
          </a:p>
          <a:p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dirty="0">
                <a:solidFill>
                  <a:schemeClr val="tx2"/>
                </a:solidFill>
              </a:rPr>
              <a:t>English – advanced</a:t>
            </a:r>
          </a:p>
          <a:p>
            <a:r>
              <a:rPr lang="en-US" sz="1000" dirty="0">
                <a:solidFill>
                  <a:schemeClr val="tx2"/>
                </a:solidFill>
              </a:rPr>
              <a:t>French –  beginner</a:t>
            </a: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b="1" dirty="0">
                <a:solidFill>
                  <a:schemeClr val="tx2"/>
                </a:solidFill>
              </a:rPr>
              <a:t>EDUCATION</a:t>
            </a:r>
          </a:p>
          <a:p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b="1" dirty="0" err="1">
                <a:solidFill>
                  <a:schemeClr val="tx2"/>
                </a:solidFill>
              </a:rPr>
              <a:t>Politehnica</a:t>
            </a:r>
            <a:r>
              <a:rPr lang="en-US" sz="1000" b="1" dirty="0">
                <a:solidFill>
                  <a:schemeClr val="tx2"/>
                </a:solidFill>
              </a:rPr>
              <a:t> University of Bucharest</a:t>
            </a:r>
          </a:p>
          <a:p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i="1" dirty="0">
                <a:solidFill>
                  <a:schemeClr val="tx2"/>
                </a:solidFill>
              </a:rPr>
              <a:t>Master</a:t>
            </a:r>
            <a:r>
              <a:rPr lang="en-US" sz="1000" dirty="0">
                <a:solidFill>
                  <a:schemeClr val="tx2"/>
                </a:solidFill>
              </a:rPr>
              <a:t> in Advanced Software Technologies for Communications, 2018 – 2020</a:t>
            </a:r>
          </a:p>
          <a:p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i="1" dirty="0">
                <a:solidFill>
                  <a:schemeClr val="tx2"/>
                </a:solidFill>
              </a:rPr>
              <a:t>Bachelor’s Degree </a:t>
            </a:r>
            <a:r>
              <a:rPr lang="en-US" sz="1000" dirty="0">
                <a:solidFill>
                  <a:schemeClr val="tx2"/>
                </a:solidFill>
              </a:rPr>
              <a:t>in Electrical, Electronics and Communications Engineering, 2014 – 2018</a:t>
            </a:r>
          </a:p>
          <a:p>
            <a:endParaRPr lang="en-US" sz="1000" dirty="0">
              <a:solidFill>
                <a:schemeClr val="tx2"/>
              </a:solidFill>
            </a:endParaRPr>
          </a:p>
          <a:p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b="1" dirty="0">
                <a:solidFill>
                  <a:schemeClr val="tx2"/>
                </a:solidFill>
              </a:rPr>
              <a:t>COURSES &amp; CERTIFICATIONS</a:t>
            </a:r>
          </a:p>
          <a:p>
            <a:endParaRPr lang="en-US" sz="1000" b="1" dirty="0">
              <a:solidFill>
                <a:schemeClr val="tx2"/>
              </a:solidFill>
            </a:endParaRPr>
          </a:p>
          <a:p>
            <a:endParaRPr lang="en-US" sz="1000" b="1" dirty="0">
              <a:solidFill>
                <a:schemeClr val="tx2"/>
              </a:solidFill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16650" y="469900"/>
            <a:ext cx="727886" cy="11835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32CF97-7170-449E-A324-A00A7D420252}"/>
              </a:ext>
            </a:extLst>
          </p:cNvPr>
          <p:cNvSpPr txBox="1"/>
          <p:nvPr/>
        </p:nvSpPr>
        <p:spPr>
          <a:xfrm>
            <a:off x="3579661" y="1939554"/>
            <a:ext cx="3653790" cy="760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000" b="1" dirty="0">
                <a:solidFill>
                  <a:schemeClr val="tx2"/>
                </a:solidFill>
              </a:rPr>
              <a:t>BACKGROUND</a:t>
            </a: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r>
              <a:rPr lang="en-US" sz="1200" b="1" dirty="0">
                <a:solidFill>
                  <a:schemeClr val="tx2"/>
                </a:solidFill>
              </a:rPr>
              <a:t>Oracle</a:t>
            </a:r>
          </a:p>
          <a:p>
            <a:pPr lvl="0"/>
            <a:r>
              <a:rPr lang="en-US" sz="1200" b="1" dirty="0">
                <a:solidFill>
                  <a:schemeClr val="tx2"/>
                </a:solidFill>
              </a:rPr>
              <a:t>Software Engineer </a:t>
            </a:r>
            <a:r>
              <a:rPr lang="en-US" sz="1200" dirty="0">
                <a:solidFill>
                  <a:schemeClr val="tx2"/>
                </a:solidFill>
              </a:rPr>
              <a:t>May</a:t>
            </a:r>
            <a:r>
              <a:rPr lang="en-US" sz="1200" b="1" dirty="0">
                <a:solidFill>
                  <a:schemeClr val="tx2"/>
                </a:solidFill>
              </a:rPr>
              <a:t> </a:t>
            </a:r>
            <a:r>
              <a:rPr lang="en-US" sz="1200" dirty="0">
                <a:solidFill>
                  <a:schemeClr val="tx2"/>
                </a:solidFill>
              </a:rPr>
              <a:t>2019 – Present </a:t>
            </a: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Analysis of Vehicle Functions and Software Components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Development and continuous integration of Software Components in a big project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Using AUTOSAR architecture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Working in an Agile Environment, using Scrum Methodology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Use of GIT as version control system alongside </a:t>
            </a:r>
            <a:r>
              <a:rPr lang="en-US" sz="1000" dirty="0" err="1">
                <a:solidFill>
                  <a:schemeClr val="tx2"/>
                </a:solidFill>
              </a:rPr>
              <a:t>Sourcetree</a:t>
            </a:r>
            <a:endParaRPr lang="en-US" sz="1000" dirty="0">
              <a:solidFill>
                <a:schemeClr val="tx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Updating specifications of official documents using IBM DOORS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Hardware and software debugging using Vector CAN, </a:t>
            </a:r>
            <a:r>
              <a:rPr lang="en-US" sz="1000" dirty="0" err="1">
                <a:solidFill>
                  <a:schemeClr val="tx2"/>
                </a:solidFill>
              </a:rPr>
              <a:t>CaNoe</a:t>
            </a:r>
            <a:r>
              <a:rPr lang="en-US" sz="1000" dirty="0">
                <a:solidFill>
                  <a:schemeClr val="tx2"/>
                </a:solidFill>
              </a:rPr>
              <a:t> and Multi Debugger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Creation of test-cases for the customer specifications</a:t>
            </a: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r>
              <a:rPr lang="en-US" sz="1000" b="1" dirty="0">
                <a:solidFill>
                  <a:schemeClr val="tx2"/>
                </a:solidFill>
              </a:rPr>
              <a:t>Projects: </a:t>
            </a:r>
          </a:p>
          <a:p>
            <a:pPr lvl="0"/>
            <a:endParaRPr lang="en-US" sz="1000" b="1" dirty="0">
              <a:solidFill>
                <a:schemeClr val="tx2"/>
              </a:solidFill>
            </a:endParaRPr>
          </a:p>
          <a:p>
            <a:pPr lvl="0"/>
            <a:r>
              <a:rPr lang="en-US" sz="1000" b="1" dirty="0">
                <a:solidFill>
                  <a:schemeClr val="tx2"/>
                </a:solidFill>
              </a:rPr>
              <a:t>…………………………………………………….</a:t>
            </a:r>
          </a:p>
          <a:p>
            <a:pPr lvl="0"/>
            <a:endParaRPr lang="en-US" sz="1000" b="1" dirty="0">
              <a:solidFill>
                <a:schemeClr val="tx2"/>
              </a:solidFill>
            </a:endParaRPr>
          </a:p>
          <a:p>
            <a:pPr lvl="0"/>
            <a:endParaRPr lang="en-US" sz="1000" b="1" dirty="0">
              <a:solidFill>
                <a:schemeClr val="tx2"/>
              </a:solidFill>
            </a:endParaRPr>
          </a:p>
          <a:p>
            <a:pPr lvl="0"/>
            <a:r>
              <a:rPr lang="en-US" sz="1200" b="1" dirty="0" err="1">
                <a:solidFill>
                  <a:schemeClr val="tx2"/>
                </a:solidFill>
              </a:rPr>
              <a:t>Luxoft</a:t>
            </a:r>
            <a:endParaRPr lang="en-US" sz="1200" b="1" dirty="0">
              <a:solidFill>
                <a:schemeClr val="tx2"/>
              </a:solidFill>
            </a:endParaRPr>
          </a:p>
          <a:p>
            <a:pPr lvl="0"/>
            <a:r>
              <a:rPr lang="en-US" sz="1200" b="1" dirty="0">
                <a:solidFill>
                  <a:schemeClr val="tx2"/>
                </a:solidFill>
              </a:rPr>
              <a:t>Software Test Engineer </a:t>
            </a:r>
            <a:r>
              <a:rPr lang="en-US" sz="1200" dirty="0">
                <a:solidFill>
                  <a:schemeClr val="tx2"/>
                </a:solidFill>
              </a:rPr>
              <a:t>July</a:t>
            </a:r>
            <a:r>
              <a:rPr lang="en-US" sz="1200" b="1" dirty="0">
                <a:solidFill>
                  <a:schemeClr val="tx2"/>
                </a:solidFill>
              </a:rPr>
              <a:t> </a:t>
            </a:r>
            <a:r>
              <a:rPr lang="en-US" sz="1200" dirty="0">
                <a:solidFill>
                  <a:schemeClr val="tx2"/>
                </a:solidFill>
              </a:rPr>
              <a:t>2018 – May 2019</a:t>
            </a: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Design and develop automated test cases based on customer specifications.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Run automated tests.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Analyze test results and create tickets for the new issues.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Check the resolved tickets.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Create new manual test cases for customer needs.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Elaborate new test cases in order to minimize manual testing.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Improve the structure of existing automated tests.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Maintain a weekly report which contains automation progress for team.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Ramp up for newcomers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Work in Agile environment using Jira as bug tracker and GIT as version control tool.</a:t>
            </a:r>
          </a:p>
          <a:p>
            <a:pPr lvl="1"/>
            <a:endParaRPr lang="en-US" sz="1000" dirty="0">
              <a:solidFill>
                <a:schemeClr val="tx2"/>
              </a:solidFill>
            </a:endParaRPr>
          </a:p>
          <a:p>
            <a:pPr lvl="0"/>
            <a:r>
              <a:rPr lang="en-US" sz="1000" b="1" dirty="0">
                <a:solidFill>
                  <a:schemeClr val="tx2"/>
                </a:solidFill>
              </a:rPr>
              <a:t>Projects: </a:t>
            </a:r>
          </a:p>
          <a:p>
            <a:pPr lvl="0"/>
            <a:endParaRPr lang="en-US" sz="1000" b="1" dirty="0">
              <a:solidFill>
                <a:schemeClr val="tx2"/>
              </a:solidFill>
            </a:endParaRPr>
          </a:p>
          <a:p>
            <a:pPr lvl="0"/>
            <a:r>
              <a:rPr lang="en-US" sz="1000" b="1" dirty="0">
                <a:solidFill>
                  <a:schemeClr val="tx2"/>
                </a:solidFill>
              </a:rPr>
              <a:t>…………………………………………………….</a:t>
            </a:r>
          </a:p>
          <a:p>
            <a:pPr lvl="1"/>
            <a:endParaRPr lang="en-US" sz="1000" dirty="0">
              <a:solidFill>
                <a:schemeClr val="tx2"/>
              </a:solidFill>
            </a:endParaRP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endParaRPr lang="en-US" sz="1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A2238251-49DC-4251-B3B2-F39DBA87B98F}"/>
              </a:ext>
            </a:extLst>
          </p:cNvPr>
          <p:cNvSpPr/>
          <p:nvPr/>
        </p:nvSpPr>
        <p:spPr>
          <a:xfrm flipH="1" flipV="1">
            <a:off x="-1" y="30316"/>
            <a:ext cx="7556499" cy="10663084"/>
          </a:xfrm>
          <a:prstGeom prst="snip1Rect">
            <a:avLst>
              <a:gd name="adj" fmla="val 1993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097762-0440-45AD-AB8E-07B3B9DD8638}"/>
              </a:ext>
            </a:extLst>
          </p:cNvPr>
          <p:cNvSpPr txBox="1"/>
          <p:nvPr/>
        </p:nvSpPr>
        <p:spPr>
          <a:xfrm>
            <a:off x="753298" y="2093537"/>
            <a:ext cx="62484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solidFill>
                  <a:schemeClr val="tx2"/>
                </a:solidFill>
              </a:rPr>
              <a:t>Infineon Technologies Romania</a:t>
            </a:r>
          </a:p>
          <a:p>
            <a:pPr lvl="0"/>
            <a:r>
              <a:rPr lang="en-US" sz="1200" b="1" dirty="0">
                <a:solidFill>
                  <a:schemeClr val="tx2"/>
                </a:solidFill>
              </a:rPr>
              <a:t>Software &amp; Firmware Engineer </a:t>
            </a:r>
            <a:r>
              <a:rPr lang="en-US" sz="1200" dirty="0">
                <a:solidFill>
                  <a:schemeClr val="tx2"/>
                </a:solidFill>
              </a:rPr>
              <a:t>June 2017 – June 2018 </a:t>
            </a: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Development of firmware for new sensors.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Creating GUI software, in C #, to retrieve and process data from sensors.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Designing PCBs for sensor placement and easier interfacing with a microcontroller.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Designing models for 3D printing</a:t>
            </a: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r>
              <a:rPr lang="en-US" sz="1000" b="1" dirty="0">
                <a:solidFill>
                  <a:schemeClr val="tx2"/>
                </a:solidFill>
              </a:rPr>
              <a:t>Projects: </a:t>
            </a:r>
          </a:p>
          <a:p>
            <a:pPr lvl="0"/>
            <a:endParaRPr lang="en-US" sz="1000" b="1" dirty="0">
              <a:solidFill>
                <a:schemeClr val="tx2"/>
              </a:solidFill>
            </a:endParaRPr>
          </a:p>
          <a:p>
            <a:pPr lvl="0"/>
            <a:r>
              <a:rPr lang="en-US" sz="1000" b="1" dirty="0">
                <a:solidFill>
                  <a:schemeClr val="tx2"/>
                </a:solidFill>
              </a:rPr>
              <a:t>…………………………………………………….</a:t>
            </a:r>
          </a:p>
          <a:p>
            <a:pPr lvl="0"/>
            <a:endParaRPr lang="en-US" sz="1000" b="1" dirty="0">
              <a:solidFill>
                <a:schemeClr val="tx2"/>
              </a:solidFill>
            </a:endParaRPr>
          </a:p>
          <a:p>
            <a:pPr lvl="0"/>
            <a:endParaRPr lang="en-US" sz="1200" b="1" dirty="0">
              <a:solidFill>
                <a:schemeClr val="tx2"/>
              </a:solidFill>
            </a:endParaRPr>
          </a:p>
          <a:p>
            <a:pPr lvl="0"/>
            <a:r>
              <a:rPr lang="en-US" sz="1200" b="1" dirty="0">
                <a:solidFill>
                  <a:schemeClr val="tx2"/>
                </a:solidFill>
              </a:rPr>
              <a:t>JT International Manufacturing</a:t>
            </a:r>
          </a:p>
          <a:p>
            <a:pPr lvl="0"/>
            <a:r>
              <a:rPr lang="en-US" sz="1200" b="1" dirty="0">
                <a:solidFill>
                  <a:schemeClr val="tx2"/>
                </a:solidFill>
              </a:rPr>
              <a:t>Internship </a:t>
            </a:r>
            <a:r>
              <a:rPr lang="en-US" sz="1200" dirty="0">
                <a:solidFill>
                  <a:schemeClr val="tx2"/>
                </a:solidFill>
              </a:rPr>
              <a:t>July 2016 – October 2016 </a:t>
            </a: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I worked in the Quality Department, the New Product Development section, where I have been creating various information management systems related to the development of new products as well as maintaining databases already in place.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I learned how the FMCG industry works and how a very large factory with an impressive number is managed;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I had the opportunity to see how the production lines work.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I had interactions with the R &amp; D department (Research &amp; Development), which sends new products based on customer requests to the factory, the intermediary of the two being the 'New Product Development'.</a:t>
            </a:r>
          </a:p>
          <a:p>
            <a:pPr lvl="0"/>
            <a:r>
              <a:rPr lang="en-US" sz="1000" dirty="0">
                <a:solidFill>
                  <a:schemeClr val="tx2"/>
                </a:solidFill>
              </a:rPr>
              <a:t>              </a:t>
            </a:r>
          </a:p>
          <a:p>
            <a:pPr lvl="0"/>
            <a:endParaRPr lang="en-US" sz="1000" dirty="0">
              <a:solidFill>
                <a:schemeClr val="tx2"/>
              </a:solidFill>
            </a:endParaRPr>
          </a:p>
          <a:p>
            <a:pPr lvl="0"/>
            <a:r>
              <a:rPr lang="en-US" sz="1000" b="1" dirty="0">
                <a:solidFill>
                  <a:schemeClr val="tx2"/>
                </a:solidFill>
              </a:rPr>
              <a:t>Projects: </a:t>
            </a:r>
          </a:p>
          <a:p>
            <a:pPr lvl="0"/>
            <a:endParaRPr lang="en-US" sz="1000" b="1" dirty="0">
              <a:solidFill>
                <a:schemeClr val="tx2"/>
              </a:solidFill>
            </a:endParaRPr>
          </a:p>
          <a:p>
            <a:pPr lvl="0"/>
            <a:r>
              <a:rPr lang="en-US" sz="1000" b="1" dirty="0">
                <a:solidFill>
                  <a:schemeClr val="tx2"/>
                </a:solidFill>
              </a:rPr>
              <a:t>…………………………………………………….</a:t>
            </a:r>
          </a:p>
          <a:p>
            <a:pPr lvl="0"/>
            <a:endParaRPr lang="en-US" sz="1000" dirty="0">
              <a:solidFill>
                <a:prstClr val="black"/>
              </a:solidFill>
            </a:endParaRPr>
          </a:p>
        </p:txBody>
      </p:sp>
      <p:pic>
        <p:nvPicPr>
          <p:cNvPr id="12" name="Picture 34">
            <a:extLst>
              <a:ext uri="{FF2B5EF4-FFF2-40B4-BE49-F238E27FC236}">
                <a16:creationId xmlns:a16="http://schemas.microsoft.com/office/drawing/2014/main" id="{651AAB16-ACDB-4AE1-B275-71C0D6D43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64250" y="470150"/>
            <a:ext cx="727886" cy="118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343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f9646e7-a2b7-4055-b37c-fae88eceb046}" enabled="1" method="Privileged" siteId="{9bc3d1cd-55ca-4e13-b5a2-a9e9deaeba3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Microsoft Office PowerPoint</Application>
  <PresentationFormat>Custom</PresentationFormat>
  <Paragraphs>115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Aptos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Background</dc:title>
  <dc:creator>Ioana MONEANU</dc:creator>
  <cp:lastModifiedBy>DANIELA FLORENTINA ALUPEI</cp:lastModifiedBy>
  <cp:revision>78</cp:revision>
  <cp:lastPrinted>2020-01-09T13:56:15Z</cp:lastPrinted>
  <dcterms:created xsi:type="dcterms:W3CDTF">2006-08-16T00:00:00Z</dcterms:created>
  <dcterms:modified xsi:type="dcterms:W3CDTF">2026-05-28T12:10:15Z</dcterms:modified>
  <dc:identifier>DADezJiLS0w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Sensitivity: C1-Internal</vt:lpwstr>
  </property>
</Properties>
</file>